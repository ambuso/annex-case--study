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845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B2845"/>
                </a:solidFill>
                <a:latin typeface="Arial"/>
              </a:rPr>
              <a:t>Risk metrics by snapshot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Delinquency rate</c:v>
                </c:pt>
              </c:strCache>
            </c:strRef>
          </c:tx>
          <c:spPr>
            <a:ln w="38100" cap="flat">
              <a:solidFill>
                <a:srgbClr val="C8553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8553D"/>
              </a:solidFill>
              <a:ln w="9525" cap="flat">
                <a:solidFill>
                  <a:srgbClr val="C8553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Q1 '25</c:v>
                </c:pt>
                <c:pt idx="1">
                  <c:v>Q1 end</c:v>
                </c:pt>
                <c:pt idx="2">
                  <c:v>Q2 end</c:v>
                </c:pt>
                <c:pt idx="3">
                  <c:v>Q3 end</c:v>
                </c:pt>
                <c:pt idx="4">
                  <c:v>Q4 end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41.4</c:v>
                </c:pt>
                <c:pt idx="1">
                  <c:v>43.5</c:v>
                </c:pt>
                <c:pt idx="2">
                  <c:v>42.8</c:v>
                </c:pt>
                <c:pt idx="3">
                  <c:v>43.5</c:v>
                </c:pt>
                <c:pt idx="4">
                  <c:v>44.8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DC3-435A-A9C5-F6688D0B34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 90+</c:v>
                </c:pt>
              </c:strCache>
            </c:strRef>
          </c:tx>
          <c:spPr>
            <a:ln w="38100" cap="flat">
              <a:solidFill>
                <a:srgbClr val="2D4D7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D4D72"/>
              </a:solidFill>
              <a:ln w="9525" cap="flat">
                <a:solidFill>
                  <a:srgbClr val="2D4D72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Q1 '25</c:v>
                </c:pt>
                <c:pt idx="1">
                  <c:v>Q1 end</c:v>
                </c:pt>
                <c:pt idx="2">
                  <c:v>Q2 end</c:v>
                </c:pt>
                <c:pt idx="3">
                  <c:v>Q3 end</c:v>
                </c:pt>
                <c:pt idx="4">
                  <c:v>Q4 end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28.5</c:v>
                </c:pt>
                <c:pt idx="1">
                  <c:v>31.8</c:v>
                </c:pt>
                <c:pt idx="2">
                  <c:v>32.9</c:v>
                </c:pt>
                <c:pt idx="3">
                  <c:v>33.799999999999997</c:v>
                </c:pt>
                <c:pt idx="4">
                  <c:v>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DC3-435A-A9C5-F6688D0B34E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Write-off rate</c:v>
                </c:pt>
              </c:strCache>
            </c:strRef>
          </c:tx>
          <c:spPr>
            <a:ln w="38100" cap="flat">
              <a:solidFill>
                <a:srgbClr val="64748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Q1 '25</c:v>
                </c:pt>
                <c:pt idx="1">
                  <c:v>Q1 end</c:v>
                </c:pt>
                <c:pt idx="2">
                  <c:v>Q2 end</c:v>
                </c:pt>
                <c:pt idx="3">
                  <c:v>Q3 end</c:v>
                </c:pt>
                <c:pt idx="4">
                  <c:v>Q4 end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13.8</c:v>
                </c:pt>
                <c:pt idx="1">
                  <c:v>16.399999999999999</c:v>
                </c:pt>
                <c:pt idx="2">
                  <c:v>17.5</c:v>
                </c:pt>
                <c:pt idx="3">
                  <c:v>18.5</c:v>
                </c:pt>
                <c:pt idx="4">
                  <c:v>18.2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DC3-435A-A9C5-F6688D0B34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845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B2845"/>
                </a:solidFill>
                <a:latin typeface="Arial"/>
              </a:rPr>
              <a:t>Delinquency rate by segment, latest snapshot (≥200 loans)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Delinquency rate (%)</c:v>
                </c:pt>
              </c:strCache>
            </c:strRef>
          </c:tx>
          <c:spPr>
            <a:solidFill>
              <a:srgbClr val="2D4D7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8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46-55</c:v>
                </c:pt>
                <c:pt idx="1">
                  <c:v>36-45</c:v>
                </c:pt>
                <c:pt idx="2">
                  <c:v>150K+
income</c:v>
                </c:pt>
                <c:pt idx="3">
                  <c:v>100K-150K
income</c:v>
                </c:pt>
                <c:pt idx="4">
                  <c:v>26-35</c:v>
                </c:pt>
                <c:pt idx="5">
                  <c:v>Portfolio
avg</c:v>
                </c:pt>
                <c:pt idx="6">
                  <c:v>Unknown
age band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32.4</c:v>
                </c:pt>
                <c:pt idx="1">
                  <c:v>35.799999999999997</c:v>
                </c:pt>
                <c:pt idx="2">
                  <c:v>36</c:v>
                </c:pt>
                <c:pt idx="3">
                  <c:v>36.700000000000003</c:v>
                </c:pt>
                <c:pt idx="4">
                  <c:v>45.2</c:v>
                </c:pt>
                <c:pt idx="5">
                  <c:v>44.8</c:v>
                </c:pt>
                <c:pt idx="6">
                  <c:v>49.6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9F-4F65-A308-C2C2954978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845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B2845"/>
                </a:solidFill>
                <a:latin typeface="Arial"/>
              </a:rPr>
              <a:t>Net Promoter Score by risk category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Promoter Score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8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Closed</c:v>
                </c:pt>
                <c:pt idx="1">
                  <c:v>High</c:v>
                </c:pt>
                <c:pt idx="2">
                  <c:v>Low</c:v>
                </c:pt>
                <c:pt idx="3">
                  <c:v>Medium</c:v>
                </c:pt>
                <c:pt idx="4">
                  <c:v>Returned</c:v>
                </c:pt>
                <c:pt idx="5">
                  <c:v>Critical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13.4</c:v>
                </c:pt>
                <c:pt idx="1">
                  <c:v>17.7</c:v>
                </c:pt>
                <c:pt idx="2">
                  <c:v>11.3</c:v>
                </c:pt>
                <c:pt idx="3">
                  <c:v>10.4</c:v>
                </c:pt>
                <c:pt idx="4">
                  <c:v>-8.1</c:v>
                </c:pt>
                <c:pt idx="5">
                  <c:v>-23.7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DC-4BC9-ACB1-46B02D4D0F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2841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Phones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Portfolio: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Snapshots to Reliable Insights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3931920"/>
            <a:ext cx="3566160" cy="1737360"/>
          </a:xfrm>
          <a:prstGeom prst="rect">
            <a:avLst/>
          </a:prstGeom>
          <a:solidFill>
            <a:srgbClr val="2D4D7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023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47091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Loan-book growth across 2025 (8.8K → 20.5K loans)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credit quality deteriorating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3931920"/>
            <a:ext cx="3566160" cy="1737360"/>
          </a:xfrm>
          <a:prstGeom prst="rect">
            <a:avLst/>
          </a:prstGeom>
          <a:solidFill>
            <a:srgbClr val="2D4D7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4023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44.8%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0" y="47091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delinquency rate — collection rate fell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10pp from Q1 to Q4 (69 → 60%)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38160" y="3931920"/>
            <a:ext cx="3566160" cy="1737360"/>
          </a:xfrm>
          <a:prstGeom prst="rect">
            <a:avLst/>
          </a:prstGeom>
          <a:solidFill>
            <a:srgbClr val="2D4D72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4023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+5pp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321040" y="47091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Default-rate gap for loans without complete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profiles vs the rest of the book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DE Case Study   - Dismas Mike ·  Slide 1 of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in the data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sources, real-world inconsistencies, ~50% customer-side coverage gap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DE Case Study  ·  ABC Phones Credit Portfolio – Dismas Mike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23774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71,448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2017166"/>
            <a:ext cx="2377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rows across 5 quarterly snapshots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5176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417320"/>
            <a:ext cx="23774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20,742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2017166"/>
            <a:ext cx="2377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loans (1 row per loan per snapshot)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280160"/>
            <a:ext cx="265176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417320"/>
            <a:ext cx="23774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3,985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172200" y="2017166"/>
            <a:ext cx="2377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responses, 100% match credit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23960" y="1280160"/>
            <a:ext cx="288036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0" y="1417320"/>
            <a:ext cx="26060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961120" y="2017166"/>
            <a:ext cx="26060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loans w/ no DOB/income/gender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697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quality issues identified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54680"/>
          <a:ext cx="11247120" cy="305104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Filename ↔ data drift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Credit_Data_-_30-03-2025.csv contains DATE = 3/31/2025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Caught by schema_and_freshness check (CRITICAL)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CUSTOMER_ID anywhere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Joins are loan-to-loan only via LOAN_ID / Loan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Documented gap; multi-loan customers not trackable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Column-name typo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DOB sheet uses 'Loan Id ' (trailing space)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Stripped on ingest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DOB conflicts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471 loans have multiple DOBs across 3 providers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 rule: TransUnion → SmileID → SpinMobile, then most recent createdAt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column ambiguity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income fields likely overlap — naive sum double-counts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'Received' as canonical total; documented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padding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customer sheets padded to 1,048,575 rows (Excel cap)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dropna(how='all') on ingest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 enum casing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BALANCE_DUE_STATUS: 'Arrears' vs 'up to date' vs 'advance'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Lowercased on ingest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pattern on a laptop today, lifts to S3+Athena / GCS+BigQuery / Snowflake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DE Case Study  ·  ABC Phones Credit Portfolio – Dismas Mike</a:t>
            </a:r>
            <a:endParaRPr lang="en-US" sz="900" dirty="0"/>
          </a:p>
        </p:txBody>
      </p:sp>
      <p:pic>
        <p:nvPicPr>
          <p:cNvPr id="5" name="Image 0" descr="/home/claude/Annex_DE/pipeline_design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11247120" cy="63265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engineering decisions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is small but compounds into a robust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DE Case Study  ·  ABC Phones Credit Portfolio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39496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150876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17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partitioning by snapshot_date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snapshot is its own Parquet partition. Reruns drop &amp; replace one folder; the rest stays untouched. Idempotent without locking.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280160"/>
            <a:ext cx="539496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280160"/>
            <a:ext cx="73152" cy="150876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417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over Pandas-only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17830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stays in Pandas (row-wise logic). Analytics moves to SQL via DuckDB on the Parquet files. Same SQL ports to BigQuery/Snowflake.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539496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71800"/>
            <a:ext cx="73152" cy="150876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Pure-function stages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47472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clean_* and check_* function returns (df, report). No globals, no in-place mutation. Trivially unit-testable.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2971800"/>
            <a:ext cx="539496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2971800"/>
            <a:ext cx="73152" cy="150876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values preserved alongside derived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347472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keep both days_past_due (source) and days_past_due_derived (ours). The reconciliation gap itself is a quality check — not a bug to hide.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663440"/>
            <a:ext cx="539496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663440"/>
            <a:ext cx="73152" cy="150876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800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contract on ingest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516636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columns are codified in EXPECTED_CREDIT_COLS. Missing or extra cols halt the pipeline before bad data reaches analysts.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4663440"/>
            <a:ext cx="539496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4663440"/>
            <a:ext cx="73152" cy="150876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4800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Late-arriving / reprocessing strategy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55080" y="516636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any snapshot independently — `python run_pipeline.py --only cleaning` rebuilds one partition. Nothing else recomputes.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framework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checks + one bonus, each with severity, cadence, and a real alerting route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DE Case Study  ·  ABC Phones Credit Portfolio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2871216"/>
        </p:xfrm>
        <a:graphic>
          <a:graphicData uri="http://schemas.openxmlformats.org/drawingml/2006/table">
            <a:tbl>
              <a:tblPr/>
              <a:tblGrid>
                <a:gridCol w="6126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route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Schema &amp; freshness — files arrive, columns match contract, internal DATE = filename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PagerDuty + halt DAG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Uniqueness of (loan_id, snapshot_date)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PagerDuty + halt DAG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Referential integrity — every credit/NPS loan_id exists in dim_customer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Slack #data-alerts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Range checks — age 18-100, income &gt; 0, NPS 0-10, DPD ≥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Slack #data-alerts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Null thresholds — critical fields &lt; 1%, soft fields &lt; 60%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Slack #data-alerts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DPD reconciliation — derived vs source within 7-day tolerance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digest email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457200" y="4434840"/>
            <a:ext cx="11247120" cy="1783080"/>
          </a:xfrm>
          <a:prstGeom prst="rect">
            <a:avLst/>
          </a:prstGeom>
          <a:solidFill>
            <a:srgbClr val="F8FAFC"/>
          </a:solidFill>
          <a:ln w="19050">
            <a:solidFill>
              <a:srgbClr val="C855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526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 FROM THE DATA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4800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 ↔ internal date mismatch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5120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55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Credit_Data_-_30-03-2025.csv </a:t>
            </a:r>
            <a:r>
              <a:rPr lang="en-US" sz="120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an internal </a:t>
            </a:r>
            <a:r>
              <a:rPr lang="en-US" sz="1200" dirty="0">
                <a:solidFill>
                  <a:srgbClr val="1B2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 </a:t>
            </a:r>
            <a:r>
              <a:rPr lang="en-US" sz="120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with value </a:t>
            </a:r>
            <a:r>
              <a:rPr lang="en-US" sz="1200" b="1" dirty="0">
                <a:solidFill>
                  <a:srgbClr val="C855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3/31/2025</a:t>
            </a:r>
            <a:r>
              <a:rPr lang="en-US" sz="120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silent date drift that would land in PAR-30 quarter-end metrics.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5577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20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automatically by check #1 with severity=CRITICAL on first run. Alert routed to PagerDuty; DAG halted before downstream tasks ran.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derived fields per the brief; risk_category is where the judgement shows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23031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DE Case Study  ·  ABC Phones Credit Portfolio – Dismas Mike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required features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55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age_band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DOB at each reporting date — 18-25, 26-35, 36-45, 46-55, 55+, plus explicit 'Unknown' bucket so coverage stays visible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55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avg_monthly_income_band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received_total ÷ duration_months → 8 bands per brief. 'Received' used as canonical total to avoid sub-channel double-counting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55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days_past_due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(reporting_date − next_invoice_date), clamped to 0 when no arrears. Source value retained for reconciliation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55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risk_category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2976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credit-risk judgement call → see right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1234440"/>
            <a:ext cx="5852160" cy="4937760"/>
          </a:xfrm>
          <a:prstGeom prst="rect">
            <a:avLst/>
          </a:prstGeom>
          <a:solidFill>
            <a:srgbClr val="1B2845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risk_category logic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504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PAR-bucket framework adapted to ABC Phones' status taxonomy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2103120"/>
            <a:ext cx="1280160" cy="45720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0664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Off / Lost Write Off  OR  DPD ≥ 90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2743200"/>
            <a:ext cx="128016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2743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06640" y="2743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DPD 31-89  OR  L2 ∈ {PAR 30, FMD}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3383280"/>
            <a:ext cx="1280160" cy="45720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0" y="33832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06640" y="3383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DPD 1-30  OR  L2 ∈ {PAR 7, FPD, Inactive}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4023360"/>
            <a:ext cx="1280160" cy="4572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023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06640" y="4023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DPD = 0  AND  L2 = Active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4663440"/>
            <a:ext cx="1280160" cy="4572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0" name="Text 28"/>
          <p:cNvSpPr/>
          <p:nvPr/>
        </p:nvSpPr>
        <p:spPr>
          <a:xfrm>
            <a:off x="6035040" y="4663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06640" y="4663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= Paid Off  (out of active book)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35040" y="5303520"/>
            <a:ext cx="1280160" cy="4572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3" name="Text 31"/>
          <p:cNvSpPr/>
          <p:nvPr/>
        </p:nvSpPr>
        <p:spPr>
          <a:xfrm>
            <a:off x="6035040" y="5303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06640" y="5303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= Return  (out of active book)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3504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IFRS-9 staging logic and standard microfinance PAR-bucketing.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health: book grew fast, quality slipped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quarterly snapshots, 2025-01-01 through 2025-12-30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DE Case Study  ·  ABC Phones Credit Portfolio   -Dismas Mike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80160"/>
          <a:ext cx="685800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280160"/>
            <a:ext cx="4114800" cy="12801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26680" y="1417320"/>
            <a:ext cx="3840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59.5%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726680" y="2073859"/>
            <a:ext cx="3840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Active-loan collection rate (latest) — down from 69.4% Q1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589520" y="2697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Take-aways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589520" y="310896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size more than doubled in 2025 (133% growth in active loans).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Delinquency, PAR 90, and write-off rates all climbed in parallel — not a one-off.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rate fell 10 percentage points — the leading indicator.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is consistent with rapid origination outpacing underwriting controls.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risk really lives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without complete customer profiles default ~5pp more than the rest of the book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DE Case Study  ·  ABC Phones Credit Portfolio – Dismas Mike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34440"/>
          <a:ext cx="713232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234440"/>
            <a:ext cx="3931920" cy="4937760"/>
          </a:xfrm>
          <a:prstGeom prst="rect">
            <a:avLst/>
          </a:prstGeom>
          <a:solidFill>
            <a:srgbClr val="1B2845"/>
          </a:solidFill>
          <a:ln/>
        </p:spPr>
      </p:sp>
      <p:sp>
        <p:nvSpPr>
          <p:cNvPr id="7" name="Text 4"/>
          <p:cNvSpPr/>
          <p:nvPr/>
        </p:nvSpPr>
        <p:spPr>
          <a:xfrm>
            <a:off x="79552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955280" y="16916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with no DOB on file (46% of latest book) default at 49.6% — almost 5pp above portfolio average.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955280" y="32004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WITH complete profiles (older borrowers, higher income) consistently perform 8-12pp better.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955280" y="4526280"/>
            <a:ext cx="3566160" cy="0"/>
          </a:xfrm>
          <a:prstGeom prst="line">
            <a:avLst/>
          </a:prstGeom>
          <a:noFill/>
          <a:ln w="19050">
            <a:solidFill>
              <a:srgbClr val="C855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0" y="466344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only a data gap — it's a credit-decisioning gap. The pipeline approves loans without complete profiles, and those loans default more.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× NPS — and one fix that helps both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NPS response joined to the customer's most recent credit snapshot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DE Case Study  ·  ABC Phones Credit Portfolio –Dismas Mike.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34440"/>
          <a:ext cx="621792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858000" y="1234440"/>
            <a:ext cx="4846320" cy="49377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0" y="1234440"/>
            <a:ext cx="73152" cy="4937760"/>
          </a:xfrm>
          <a:prstGeom prst="rect">
            <a:avLst/>
          </a:prstGeom>
          <a:solidFill>
            <a:srgbClr val="C8553D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04088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lock-after-payment issue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040880" y="2194560"/>
            <a:ext cx="45720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12-17% of NPS respondents across every risk segment report </a:t>
            </a:r>
            <a:r>
              <a:rPr lang="en-US" sz="1100" i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'phone locked despite paying on time'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drives </a:t>
            </a:r>
            <a:r>
              <a:rPr lang="en-US" sz="1100" b="1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</a:t>
            </a:r>
            <a:r>
              <a:rPr lang="en-US" sz="110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the business cares about: customer dissatisfaction (Critical-risk NPS = -23.7) AND avoidable arrears flags when the locking system runs ahead of payment reflection.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r>
              <a:rPr lang="en-US" sz="1100" dirty="0">
                <a:solidFill>
                  <a:srgbClr val="1B2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24-hour grace window before remote-locking, plus a reconciliation job that lifts locks within 1 hour of payment confirmation.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improves NPS and reduces 'fake' delinquency simultaneously — a rare win-win in collections design.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8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 improvements ABC Phones should make + the production-roadmap delta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IMPROVEMENTS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02920" cy="502920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stable customer_id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2860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of national ID or phone, propagated from KYC into credit and NPS. Unlocks lifetime-value, repeat-borrower risk, and household-level analysis.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502920" cy="502920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on ISO-8601 + a YAML schema spec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611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alongside the data; documents the unit of every numeric column (Duration in months, balance in KES, etc.). Eliminates ambiguity discussed in Slide 2.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502920" cy="502920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daily snapshots with an event stream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4937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payment_made, status_changed, arrears_updated events; derive snapshots downstream. Removes the filename-vs-internal-date drift class of bugs entirely.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0936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ROADMAP DELTA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1920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55280" y="1920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run_pipeline.py  →  Airflow / Prefect / Dagster DAG; one task per stage; SLAs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09360" y="2423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55280" y="24231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Parquet  →  S3 / GCS, same Hive partitioning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09360" y="2926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55280" y="2926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 →  Athena or BigQuery — same SQL, no rewrite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09360" y="3429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55280" y="34290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SQL  →  dbt (lineage, docs, tests for free)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09360" y="3931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55280" y="3931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Python checks  →  Great Expectations / dbt tests / Soda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09360" y="4434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55280" y="4434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Mocked log routes  →  PagerDuty + Slack SDKs, on-call rota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09360" y="4937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955280" y="4937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 →  OpenLineage events from each task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6035040"/>
            <a:ext cx="11247120" cy="0"/>
          </a:xfrm>
          <a:prstGeom prst="line">
            <a:avLst/>
          </a:prstGeom>
          <a:noFill/>
          <a:ln w="12700">
            <a:solidFill>
              <a:srgbClr val="C855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Dismas Mike— Data Engineer Case Study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1558</Words>
  <Application>Microsoft Office PowerPoint</Application>
  <PresentationFormat>Widescreen</PresentationFormat>
  <Paragraphs>199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ABC Phones Credit Portfolio</dc:title>
  <dc:subject>PptxGenJS Presentation</dc:subject>
  <dc:creator>Annex DE Case Study</dc:creator>
  <cp:lastModifiedBy>Rose Achieng</cp:lastModifiedBy>
  <cp:revision>3</cp:revision>
  <dcterms:created xsi:type="dcterms:W3CDTF">2026-05-06T08:49:17Z</dcterms:created>
  <dcterms:modified xsi:type="dcterms:W3CDTF">2026-05-07T15:19:15Z</dcterms:modified>
</cp:coreProperties>
</file>